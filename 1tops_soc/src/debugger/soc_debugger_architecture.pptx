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8BDF8"/>
                </a:solidFill>
              </a:defRPr>
            </a:pPr>
            <a:r>
              <a:t>How the RISC-V Debugger Works</a:t>
            </a:r>
          </a:p>
          <a:p>
            <a:pPr>
              <a:spcBef>
                <a:spcPts val="1000"/>
              </a:spcBef>
              <a:defRPr sz="2200" b="1">
                <a:solidFill>
                  <a:srgbClr val="F8FAFC"/>
                </a:solidFill>
              </a:defRPr>
            </a:pPr>
            <a:r>
              <a:t>A Plain-English Visual Guide to the On-Chip Debug Architecture</a:t>
            </a:r>
          </a:p>
          <a:p>
            <a:pPr>
              <a:spcBef>
                <a:spcPts val="2000"/>
              </a:spcBef>
              <a:defRPr sz="1400">
                <a:solidFill>
                  <a:srgbClr val="2DD4BF"/>
                </a:solidFill>
              </a:defRPr>
            </a:pPr>
            <a:r>
              <a:t>No Fluff • Only Active Signals • Core Halt/Resume • Accelerator Access • All 8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Big Picture: How Everything Connects</a:t>
            </a:r>
          </a:p>
          <a:p>
            <a:pPr>
              <a:spcBef>
                <a:spcPts val="400"/>
              </a:spcBef>
              <a:defRPr sz="1200">
                <a:solidFill>
                  <a:srgbClr val="38BDF8"/>
                </a:solidFill>
              </a:defRPr>
            </a:pPr>
            <a:r>
              <a:t>Only 4 key blocks inside the chip — simple and clean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0116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HOST PC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Your Laptop / Terminal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• Runs PuTTY or</a:t>
            </a:r>
            <a:br/>
            <a:r>
              <a:t>  Python CLI</a:t>
            </a:r>
            <a:br/>
            <a:r>
              <a:t>• Sends text commands</a:t>
            </a:r>
            <a:br/>
            <a:r>
              <a:t>• Displays read data</a:t>
            </a:r>
            <a:br/>
            <a:br/>
            <a:r>
              <a:t>Uses normal USB cable!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34640" y="3749039"/>
            <a:ext cx="731520" cy="3657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</a:defRPr>
            </a:pPr>
            <a:r>
              <a:t>2 Wires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2011680"/>
            <a:ext cx="219456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2DD4BF"/>
                </a:solidFill>
              </a:defRPr>
            </a:pPr>
            <a:r>
              <a:t>DEBUGGER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riscv_debugger_top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• Listens on serial RX</a:t>
            </a:r>
            <a:br/>
            <a:r>
              <a:t>• Translates text to</a:t>
            </a:r>
            <a:br/>
            <a:r>
              <a:t>  bus commands</a:t>
            </a:r>
            <a:br/>
            <a:r>
              <a:t>• Holds Pause Button:</a:t>
            </a:r>
            <a:br/>
            <a:r>
              <a:t>  'core_halt_o'</a:t>
            </a:r>
            <a:br/>
            <a:r>
              <a:t>• Controls AHB Master 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43600" y="2560320"/>
            <a:ext cx="731520" cy="320040"/>
          </a:xfrm>
          <a:prstGeom prst="rightArrow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</a:defRPr>
            </a:pPr>
            <a:r>
              <a:t>PAUSE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43600" y="4846320"/>
            <a:ext cx="731520" cy="32004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</a:defRPr>
            </a:pPr>
            <a:r>
              <a:t>BUS M1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737360"/>
            <a:ext cx="210312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C084FC"/>
                </a:solidFill>
              </a:defRPr>
            </a:pPr>
            <a:r>
              <a:t>RISC-V CPU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wallypipelinedcore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• Runs your firmware</a:t>
            </a:r>
            <a:br/>
            <a:r>
              <a:t>• Freezes when PAUSE=1</a:t>
            </a:r>
            <a:br/>
            <a:r>
              <a:t>• Master 0 on AHB Bus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7589520" y="3931920"/>
            <a:ext cx="457200" cy="411480"/>
          </a:xfrm>
          <a:prstGeom prst="downArrow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0" y="4480560"/>
            <a:ext cx="210312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AHB MUX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Traffic Cop (ahb_mux)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• Decides who talks</a:t>
            </a:r>
            <a:br/>
            <a:r>
              <a:t>• CPU wins when running</a:t>
            </a:r>
            <a:br/>
            <a:r>
              <a:t>• Debugger wins when paused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961120" y="5029200"/>
            <a:ext cx="640080" cy="320040"/>
          </a:xfrm>
          <a:prstGeom prst="rightArrow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</a:defRPr>
            </a:pPr>
            <a:r>
              <a:t>BUS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0" y="2011680"/>
            <a:ext cx="18288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t>CHIP MEMORY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Uncore &amp; Accelerators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[ACCELERATOR]</a:t>
            </a:r>
            <a:br/>
            <a:r>
              <a:t>• 0x30000000 space</a:t>
            </a:r>
            <a:br/>
            <a:r>
              <a:t>• Product = 42</a:t>
            </a:r>
            <a:br/>
            <a:r>
              <a:t>• Large 16MB window</a:t>
            </a:r>
            <a:br/>
            <a:br/>
            <a:r>
              <a:t>[MAIN RAM]</a:t>
            </a:r>
            <a:br/>
            <a:r>
              <a:t>• Program variables</a:t>
            </a:r>
            <a:br/>
            <a:br/>
            <a:r>
              <a:t>[PERIPHERALS]</a:t>
            </a:r>
            <a:br/>
            <a:r>
              <a:t>• Timers, UART, GPIO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Exact Active Wires &amp; Signals</a:t>
            </a:r>
          </a:p>
          <a:p>
            <a:pPr>
              <a:spcBef>
                <a:spcPts val="400"/>
              </a:spcBef>
              <a:defRPr sz="1200">
                <a:solidFill>
                  <a:srgbClr val="38BDF8"/>
                </a:solidFill>
              </a:defRPr>
            </a:pPr>
            <a:r>
              <a:t>We trimmed all unused signals — only these real wires exist in the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1460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1. External Serial Port</a:t>
            </a:r>
          </a:p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• uart_rx (1-bit):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Input from PC TX pin (commands arrive here)</a:t>
            </a:r>
          </a:p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• uart_tx (1-bit):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Output to PC RX pin (responses sent back)</a:t>
            </a:r>
          </a:p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• Speed: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115,200 baud (standard serial speed)</a:t>
            </a:r>
          </a:p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• Physical: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Only 2 pins needed on the entire FPGA/ASIC!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645920"/>
            <a:ext cx="251460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F87171"/>
                </a:solidFill>
              </a:defRPr>
            </a:pPr>
            <a:r>
              <a:t>2. Core Freeze &amp; Reset</a:t>
            </a:r>
          </a:p>
          <a:p>
            <a:pPr>
              <a:spcBef>
                <a:spcPts val="600"/>
              </a:spcBef>
              <a:defRPr sz="1050" b="1">
                <a:solidFill>
                  <a:srgbClr val="F87171"/>
                </a:solidFill>
              </a:defRPr>
            </a:pPr>
            <a:r>
              <a:t>• core_halt_o (1-bit):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Connected to 'ExternalStall' in hazard.sv</a:t>
            </a:r>
          </a:p>
          <a:p>
            <a:pPr>
              <a:spcBef>
                <a:spcPts val="600"/>
              </a:spcBef>
              <a:defRPr sz="1050" b="1">
                <a:solidFill>
                  <a:srgbClr val="F87171"/>
                </a:solidFill>
              </a:defRPr>
            </a:pPr>
            <a:r>
              <a:t>• Halt State: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1 = All 5 CPU stages freeze in place</a:t>
            </a:r>
          </a:p>
          <a:p>
            <a:pPr>
              <a:spcBef>
                <a:spcPts val="600"/>
              </a:spcBef>
              <a:defRPr sz="1050" b="1">
                <a:solidFill>
                  <a:srgbClr val="F87171"/>
                </a:solidFill>
              </a:defRPr>
            </a:pPr>
            <a:r>
              <a:t>• Run State: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0 = CPU continues normal execution</a:t>
            </a:r>
          </a:p>
          <a:p>
            <a:pPr>
              <a:spcBef>
                <a:spcPts val="600"/>
              </a:spcBef>
              <a:defRPr sz="1050" b="1">
                <a:solidFill>
                  <a:srgbClr val="F87171"/>
                </a:solidFill>
              </a:defRPr>
            </a:pPr>
            <a:r>
              <a:t>• core_reset_o (1-bit):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Optional board/core reset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251460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2DD4BF"/>
                </a:solidFill>
              </a:defRPr>
            </a:pPr>
            <a:r>
              <a:t>3. Debugger AHB Master (M1)</a:t>
            </a:r>
          </a:p>
          <a:p>
            <a:pPr>
              <a:spcBef>
                <a:spcPts val="600"/>
              </a:spcBef>
              <a:defRPr sz="1050" b="1">
                <a:solidFill>
                  <a:srgbClr val="2DD4BF"/>
                </a:solidFill>
              </a:defRPr>
            </a:pPr>
            <a:r>
              <a:t>• DEBUG_HADDR[31:0]: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Target address to read or write</a:t>
            </a:r>
          </a:p>
          <a:p>
            <a:pPr>
              <a:spcBef>
                <a:spcPts val="600"/>
              </a:spcBef>
              <a:defRPr sz="1050" b="1">
                <a:solidFill>
                  <a:srgbClr val="2DD4BF"/>
                </a:solidFill>
              </a:defRPr>
            </a:pPr>
            <a:r>
              <a:t>• DEBUG_HWDATA[31:0]: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Write data from host to memory</a:t>
            </a:r>
          </a:p>
          <a:p>
            <a:pPr>
              <a:spcBef>
                <a:spcPts val="600"/>
              </a:spcBef>
              <a:defRPr sz="1050" b="1">
                <a:solidFill>
                  <a:srgbClr val="2DD4BF"/>
                </a:solidFill>
              </a:defRPr>
            </a:pPr>
            <a:r>
              <a:t>• DEBUG_HRDATA[31:0]: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Read data returning from memory</a:t>
            </a:r>
          </a:p>
          <a:p>
            <a:pPr>
              <a:spcBef>
                <a:spcPts val="600"/>
              </a:spcBef>
              <a:defRPr sz="1050" b="1">
                <a:solidFill>
                  <a:srgbClr val="2DD4BF"/>
                </a:solidFill>
              </a:defRPr>
            </a:pPr>
            <a:r>
              <a:t>• DEBUG_HTRANS[1:0]: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2'b00 = IDLE, 2'b10 = Active transfer</a:t>
            </a:r>
          </a:p>
          <a:p>
            <a:pPr>
              <a:spcBef>
                <a:spcPts val="600"/>
              </a:spcBef>
              <a:defRPr sz="1050" b="1">
                <a:solidFill>
                  <a:srgbClr val="2DD4BF"/>
                </a:solidFill>
              </a:defRPr>
            </a:pPr>
            <a:r>
              <a:t>• DEBUG_HWRITE: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1 = Write, 0 = Read</a:t>
            </a:r>
          </a:p>
          <a:p>
            <a:pPr>
              <a:spcBef>
                <a:spcPts val="600"/>
              </a:spcBef>
              <a:defRPr sz="1050" b="1">
                <a:solidFill>
                  <a:srgbClr val="2DD4BF"/>
                </a:solidFill>
              </a:defRPr>
            </a:pPr>
            <a:r>
              <a:t>• DEBUG_HREADY: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1 = Slave finished transfer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645920"/>
            <a:ext cx="251460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4. AHB Mux Output (S)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• S_HADDR[31:0]: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Selected address sent to memory/accelerator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• S_HWDATA[31:0]: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Selected write data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• S_HRDATA[31:0]: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Shared read data routed back to active master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• grant_addr: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  Internal bit: 0=CPU has bus, 1=Debugger has bus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AHB Mux: Who Gets to Talk to Memory?</a:t>
            </a:r>
          </a:p>
          <a:p>
            <a:pPr>
              <a:spcBef>
                <a:spcPts val="400"/>
              </a:spcBef>
              <a:defRPr sz="1200">
                <a:solidFill>
                  <a:srgbClr val="38BDF8"/>
                </a:solidFill>
              </a:defRPr>
            </a:pPr>
            <a:r>
              <a:t>A smart arbiter that eliminates bus contention completely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48463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SCENARIO A: CPU IS RUNNING (core_halt = 0)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Your application code is actively executing</a:t>
            </a:r>
          </a:p>
          <a:p>
            <a:pPr>
              <a:spcBef>
                <a:spcPts val="800"/>
              </a:spcBef>
              <a:defRPr b="1" sz="1100">
                <a:solidFill>
                  <a:srgbClr val="FBBF24"/>
                </a:solidFill>
              </a:defRPr>
            </a:pPr>
            <a:r>
              <a:t>▶ Who has priority?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   THE CPU WINS ALWAYS</a:t>
            </a:r>
          </a:p>
          <a:p>
            <a:pPr>
              <a:spcBef>
                <a:spcPts val="800"/>
              </a:spcBef>
              <a:defRPr b="1" sz="1100">
                <a:solidFill>
                  <a:srgbClr val="FBBF24"/>
                </a:solidFill>
              </a:defRPr>
            </a:pPr>
            <a:r>
              <a:t>▶ Why?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   Your real-time software, interrupts, and motor/sensor control are never delayed by the debugger.</a:t>
            </a:r>
          </a:p>
          <a:p>
            <a:pPr>
              <a:spcBef>
                <a:spcPts val="800"/>
              </a:spcBef>
              <a:defRPr b="1" sz="1100">
                <a:solidFill>
                  <a:srgbClr val="FBBF24"/>
                </a:solidFill>
              </a:defRPr>
            </a:pPr>
            <a:r>
              <a:t>▶ Can Debugger still read?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   YES! (Cycle Stealing)</a:t>
            </a:r>
          </a:p>
          <a:p>
            <a:pPr>
              <a:spcBef>
                <a:spcPts val="800"/>
              </a:spcBef>
              <a:defRPr b="1" sz="1100">
                <a:solidFill>
                  <a:srgbClr val="FBBF24"/>
                </a:solidFill>
              </a:defRPr>
            </a:pPr>
            <a:r>
              <a:t>▶ How cycle-stealing works: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   Whenever CPU is computing internal math or fetching from cache, the bus is IDLE. The MUX instantly lets the debugger read/write memory during that free cycle!</a:t>
            </a:r>
          </a:p>
          <a:p>
            <a:pPr>
              <a:spcBef>
                <a:spcPts val="800"/>
              </a:spcBef>
              <a:defRPr b="1" sz="1100">
                <a:solidFill>
                  <a:srgbClr val="FBBF24"/>
                </a:solidFill>
              </a:defRPr>
            </a:pPr>
            <a:r>
              <a:t>▶ Collision behavior: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   If both want the bus at the exact same cycle, CPU goes first; debugger waits 1 cycle.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828800"/>
            <a:ext cx="48463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2DD4BF"/>
                </a:solidFill>
              </a:defRPr>
            </a:pPr>
            <a:r>
              <a:t>SCENARIO B: CPU IS PAUSED (core_halt = 1)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You sent command 'C 0202' to pause the core</a:t>
            </a:r>
          </a:p>
          <a:p>
            <a:pPr>
              <a:spcBef>
                <a:spcPts val="800"/>
              </a:spcBef>
              <a:defRPr b="1" sz="1100">
                <a:solidFill>
                  <a:srgbClr val="4ADE80"/>
                </a:solidFill>
              </a:defRPr>
            </a:pPr>
            <a:r>
              <a:t>▶ Who has priority?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   THE DEBUGGER WINS 100%</a:t>
            </a:r>
          </a:p>
          <a:p>
            <a:pPr>
              <a:spcBef>
                <a:spcPts val="800"/>
              </a:spcBef>
              <a:defRPr b="1" sz="1100">
                <a:solidFill>
                  <a:srgbClr val="4ADE80"/>
                </a:solidFill>
              </a:defRPr>
            </a:pPr>
            <a:r>
              <a:t>▶ Why?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   The CPU pipeline is completely frozen in place. It will not make any bus requests.</a:t>
            </a:r>
          </a:p>
          <a:p>
            <a:pPr>
              <a:spcBef>
                <a:spcPts val="800"/>
              </a:spcBef>
              <a:defRPr b="1" sz="1100">
                <a:solidFill>
                  <a:srgbClr val="4ADE80"/>
                </a:solidFill>
              </a:defRPr>
            </a:pPr>
            <a:r>
              <a:t>▶ What can you do?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   Total control of the chip!</a:t>
            </a:r>
          </a:p>
          <a:p>
            <a:pPr>
              <a:spcBef>
                <a:spcPts val="800"/>
              </a:spcBef>
              <a:defRPr b="1" sz="1100">
                <a:solidFill>
                  <a:srgbClr val="4ADE80"/>
                </a:solidFill>
              </a:defRPr>
            </a:pPr>
            <a:r>
              <a:t>▶ Inspection benefits: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   You can inspect static accelerator output, modify registers, inspect variables, or load new firmware without the CPU changing anything under your feet.</a:t>
            </a:r>
          </a:p>
          <a:p>
            <a:pPr>
              <a:spcBef>
                <a:spcPts val="800"/>
              </a:spcBef>
              <a:defRPr b="1" sz="1100">
                <a:solidFill>
                  <a:srgbClr val="4ADE80"/>
                </a:solidFill>
              </a:defRPr>
            </a:pPr>
            <a:r>
              <a:t>▶ Zero Contention: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   Bus is 100% dedicated to your serial commands.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All 8 Features of the Debugger</a:t>
            </a:r>
          </a:p>
          <a:p>
            <a:pPr>
              <a:spcBef>
                <a:spcPts val="400"/>
              </a:spcBef>
              <a:defRPr sz="1200">
                <a:solidFill>
                  <a:srgbClr val="38BDF8"/>
                </a:solidFill>
              </a:defRPr>
            </a:pPr>
            <a:r>
              <a:t>More than just a reader — a full diagnostic and hardware control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146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F87171"/>
                </a:solidFill>
              </a:defRPr>
            </a:pPr>
            <a:r>
              <a:t>1. Core Freeze &amp; Thaw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Pause CPU mid-instruction with 'C 0202'; unpause with 'C 0102'. No crash, no reset.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645920"/>
            <a:ext cx="25146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2. Live Memory Peek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Read any RAM or peripheral address on the fly without stopping the CPU ('R' command).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25146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2DD4BF"/>
                </a:solidFill>
              </a:defRPr>
            </a:pPr>
            <a:r>
              <a:t>3. Memory Poke (Write)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Change parameters, tweak accelerator inputs, or inject values into memory ('W' command).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645920"/>
            <a:ext cx="25146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C084FC"/>
                </a:solidFill>
              </a:defRPr>
            </a:pPr>
            <a:r>
              <a:t>4. Dedicated Accelerator Window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Direct access to the 16 MB accelerator window (0x30000000) for dummy or big accelerators.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25146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5. Hardware Auto-Polling ('P')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Hardware polls a 'Busy/Done' flag at 50 MHz and only replies when the calculation finishes.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4023360"/>
            <a:ext cx="25146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t>6. High-Speed Memory Fill ('F')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Zeroes out or patterns entire memory buffers at hardware bus speed in 1 command.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023360"/>
            <a:ext cx="25146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7. Binary Firmware Upload ('U')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Stream raw compiled binary code directly into RAM for instant testing without flashing ROM.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4023360"/>
            <a:ext cx="25146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F87171"/>
                </a:solidFill>
              </a:defRPr>
            </a:pPr>
            <a:r>
              <a:t>8. Bus Error Detection ('!')</a:t>
            </a:r>
          </a:p>
          <a:p>
            <a:br/>
            <a:pPr>
              <a:defRPr sz="1000">
                <a:solidFill>
                  <a:srgbClr val="F8FAFC"/>
                </a:solidFill>
              </a:defRPr>
            </a:pPr>
            <a:r>
              <a:t>If you touch an invalid address, it alerts with '!' instead of hanging the entire chip.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Action Flow: Freezing &amp; Resuming the CPU</a:t>
            </a:r>
          </a:p>
          <a:p>
            <a:pPr>
              <a:spcBef>
                <a:spcPts val="400"/>
              </a:spcBef>
              <a:defRPr sz="1200">
                <a:solidFill>
                  <a:srgbClr val="38BDF8"/>
                </a:solidFill>
              </a:defRPr>
            </a:pPr>
            <a:r>
              <a:t>Simple 3-step timeline of what happens inside the chip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5146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Step 1: You Type 'C 0202'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You send 6 text characters over serial terminal.</a:t>
            </a:r>
            <a:br/>
            <a:br/>
            <a:r>
              <a:t>socdebug_uart translates serial bits into byte stream.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46120" y="3657600"/>
            <a:ext cx="182880" cy="274320"/>
          </a:xfrm>
          <a:prstGeom prst="rightArrow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9000" y="1828800"/>
            <a:ext cx="25146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Step 2: Hardware Pause Signal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socdebug_adp_control sets GPO8 bit 1.</a:t>
            </a:r>
            <a:br/>
            <a:br/>
            <a:r>
              <a:t>core_halt_o immediately goes HIGH (1) into hazard unit.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43600" y="3657600"/>
            <a:ext cx="182880" cy="274320"/>
          </a:xfrm>
          <a:prstGeom prst="rightArrow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5146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F87171"/>
                </a:solidFill>
              </a:defRPr>
            </a:pPr>
            <a:r>
              <a:t>Step 3: All 5 Stages Freeze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hazard.sv sets StallW = StallM = StallE = StallD = StallF = 1.</a:t>
            </a:r>
            <a:br/>
            <a:br/>
            <a:r>
              <a:t>Pipeline freezes like a paused video game!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641080" y="3657600"/>
            <a:ext cx="182880" cy="274320"/>
          </a:xfrm>
          <a:prstGeom prst="rightArrow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23960" y="1828800"/>
            <a:ext cx="25146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t>Step 4: You Type 'C 0102' (Resume)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core_halt_o goes LOW (0).</a:t>
            </a:r>
            <a:br/>
            <a:br/>
            <a:r>
              <a:t>Pipeline unfreezes and CPU seamlessly continues its work!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Action Flow: Reading the Accelerator Register</a:t>
            </a:r>
          </a:p>
          <a:p>
            <a:pPr>
              <a:spcBef>
                <a:spcPts val="400"/>
              </a:spcBef>
              <a:defRPr sz="1200">
                <a:solidFill>
                  <a:srgbClr val="38BDF8"/>
                </a:solidFill>
              </a:defRPr>
            </a:pPr>
            <a:r>
              <a:t>How reading address 0x30000008 fetches the product (42)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5146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Step 1: Set Target Address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You send: 'A 30000008\n'</a:t>
            </a:r>
            <a:br/>
            <a:br/>
            <a:r>
              <a:t>Debugger stores 0x30000008 into its address register and replies 'A 0x30000008'.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828800"/>
            <a:ext cx="25146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2DD4BF"/>
                </a:solidFill>
              </a:defRPr>
            </a:pPr>
            <a:r>
              <a:t>Step 2: Send Read Command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You send: 'R\n'</a:t>
            </a:r>
            <a:br/>
            <a:br/>
            <a:r>
              <a:t>Debugger generates AHB Master cycle:</a:t>
            </a:r>
            <a:br/>
            <a:r>
              <a:t>HADDR = 0x30000008</a:t>
            </a:r>
            <a:br/>
            <a:r>
              <a:t>HTRANS = NONSEQ</a:t>
            </a:r>
            <a:br/>
            <a:r>
              <a:t>HWRITE = 0 (Read)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828800"/>
            <a:ext cx="25146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Step 3: Mux Routes to Slave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ahb_mux activates accelerator chip-select (HSELEXT).</a:t>
            </a:r>
            <a:br/>
            <a:br/>
            <a:r>
              <a:t>multiplier_ahb decodes offset 0x08 and drives product (42) onto HRDATA.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828800"/>
            <a:ext cx="25146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t>Step 4: Result Sent to PC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Debugger formats the result into text:</a:t>
            </a:r>
            <a:br/>
            <a:r>
              <a:t>'R 0x0000002A\n]'</a:t>
            </a:r>
            <a:br/>
            <a:br/>
            <a:r>
              <a:t>Your terminal shows: 42 (0x2A)!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Command Cheatsheet at a Glance</a:t>
            </a:r>
          </a:p>
          <a:p>
            <a:pPr>
              <a:spcBef>
                <a:spcPts val="400"/>
              </a:spcBef>
              <a:defRPr sz="1200">
                <a:solidFill>
                  <a:srgbClr val="38BDF8"/>
                </a:solidFill>
              </a:defRPr>
            </a:pPr>
            <a:r>
              <a:t>Only 6 simple commands cover 99% of your debugging needs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201168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7171"/>
                </a:solidFill>
              </a:defRPr>
            </a:pPr>
            <a:r>
              <a:t>C 0202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645920"/>
            <a:ext cx="813816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PAUSE CPU  —  Freezes CPU pipeline in place via ExternalStall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423160"/>
            <a:ext cx="201168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t>C 0102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2423160"/>
            <a:ext cx="813816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RESUME CPU  —  Unfreezes CPU pipeline to continue running normal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200400"/>
            <a:ext cx="201168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A &lt;hex_addr&gt;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200400"/>
            <a:ext cx="813816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SET ADDRESS  —  Sets memory pointer (e.g. 'A 30000008' for accelerator)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977639"/>
            <a:ext cx="201168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D4BF"/>
                </a:solidFill>
              </a:defRPr>
            </a:pPr>
            <a:r>
              <a:t>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977639"/>
            <a:ext cx="813816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READ WORD  —  Reads 32-bit value at address pointer and prints in hex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754880"/>
            <a:ext cx="201168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W &lt;hex_val&gt;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4754880"/>
            <a:ext cx="813816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WRITE WORD  —  Writes 32-bit value to address pointer (e.g. 'W 00000007')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532120"/>
            <a:ext cx="201168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C084FC"/>
                </a:solidFill>
              </a:defRPr>
            </a:pPr>
            <a:r>
              <a:t>P &lt;timeout&gt;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5532120"/>
            <a:ext cx="813816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AUTO-POLL  —  Waits for accelerator calculation to finish without CPU help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